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688" r:id="rId6"/>
    <p:sldMasterId id="2147483689" r:id="rId7"/>
    <p:sldMasterId id="2147483703" r:id="rId8"/>
    <p:sldMasterId id="2147483704" r:id="rId9"/>
  </p:sldMasterIdLst>
  <p:notesMasterIdLst>
    <p:notesMasterId r:id="rId11"/>
  </p:notesMasterIdLst>
  <p:handoutMasterIdLst>
    <p:handoutMasterId r:id="rId22"/>
  </p:handoutMasterIdLst>
  <p:sldIdLst>
    <p:sldId id="7199" r:id="rId10"/>
    <p:sldId id="369" r:id="rId12"/>
    <p:sldId id="7256" r:id="rId13"/>
    <p:sldId id="7087" r:id="rId14"/>
    <p:sldId id="7269" r:id="rId15"/>
    <p:sldId id="7270" r:id="rId16"/>
    <p:sldId id="7271" r:id="rId17"/>
    <p:sldId id="7257" r:id="rId18"/>
    <p:sldId id="7200" r:id="rId19"/>
    <p:sldId id="7273" r:id="rId20"/>
    <p:sldId id="466" r:id="rId21"/>
  </p:sldIdLst>
  <p:sldSz cx="12192000" cy="6858000"/>
  <p:notesSz cx="9926320" cy="6797675"/>
  <p:custDataLst>
    <p:tags r:id="rId2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8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 Z" initials="J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060"/>
    <a:srgbClr val="005BAC"/>
    <a:srgbClr val="000064"/>
    <a:srgbClr val="F3E28D"/>
    <a:srgbClr val="FBF885"/>
    <a:srgbClr val="FCFAA8"/>
    <a:srgbClr val="BBE0E3"/>
    <a:srgbClr val="F5D0F8"/>
    <a:srgbClr val="4F0C54"/>
    <a:srgbClr val="497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3370" autoAdjust="0"/>
  </p:normalViewPr>
  <p:slideViewPr>
    <p:cSldViewPr showGuides="1">
      <p:cViewPr varScale="1">
        <p:scale>
          <a:sx n="77" d="100"/>
          <a:sy n="77" d="100"/>
        </p:scale>
        <p:origin x="72" y="120"/>
      </p:cViewPr>
      <p:guideLst>
        <p:guide orient="horz" pos="2160"/>
        <p:guide pos="84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18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7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1437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027" y="1"/>
            <a:ext cx="43030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56EAFF6-3E53-44CB-825E-45B0FE9E1EF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6363"/>
            <a:ext cx="4301437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027" y="6456363"/>
            <a:ext cx="4303025" cy="3413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981CE6A9-442C-4443-8A55-38ECBE1B78D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301437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027" y="1"/>
            <a:ext cx="43030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7163" y="509588"/>
            <a:ext cx="4532312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029" y="3228976"/>
            <a:ext cx="7942580" cy="305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6364"/>
            <a:ext cx="4301437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027" y="6456364"/>
            <a:ext cx="43030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90C4C9-6F44-4577-A7E7-6CC230EEBCC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7B300-6F9F-41CF-B6CC-E828A182A9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A52B6F-99CE-4EFD-B27F-0E84E5832C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A52B6F-99CE-4EFD-B27F-0E84E5832C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A52B6F-99CE-4EFD-B27F-0E84E5832C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A52B6F-99CE-4EFD-B27F-0E84E5832C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A52B6F-99CE-4EFD-B27F-0E84E5832C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A52B6F-99CE-4EFD-B27F-0E84E5832C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244E44-FB9A-49E6-8512-6ABAAA09A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517429DA-1A64-4472-A99A-BF99F6FEAE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CC6E59CF-2F88-4829-A924-67C703A2C6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2E31A995-0AD1-48CE-8882-32A0D793CF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33017EAB-A986-42AA-85A2-03C5434ECC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C104D68A-0291-4FF9-BB0B-E1A8C89BEB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DF505454-4B69-4374-8942-B53597B908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B7B99290-D067-489E-BF47-3C8BA77B27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6E202F74-5347-423A-A797-A15F458CE2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BB38C7E2-49C1-45A0-B987-8CD8DA2C4C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88BF8488-646B-457F-96C1-9F67A2E513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82208D28-F6D0-4A4E-9176-AE0CE61413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8D5661AC-18CE-4006-979D-89A942D050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3112322A-F6AC-403C-9A9C-1E1E6F3F22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23CA11A4-FC7A-45DA-9D8C-12DD44BE93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BDE74A44-1C7B-4059-8C2F-9C2EDBB8B2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E0D372F-1B07-4200-B253-6850985695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71BA922-C4AA-4A2C-A44F-D92D0AB369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2A43AA5-4B50-4553-A1F8-941D89F647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2B6130E0-DF3C-4330-9159-42091E8A869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E9E5FF2D-C72E-418A-8BFE-5FD8478DA5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B590BB3B-E4DA-4A71-B564-EA2C58726FF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29CA175-CDBC-4D97-BFAE-2E253EDB47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C63B27EE-BA89-45B8-A0F4-A73FBEB985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85594138-684C-489A-A95C-350C04A44B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2919A060-AAF3-425D-92F5-266A29384F7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0A02ACB-5A40-4367-AFA6-3F3A8CCA3B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6B1ED3C2-DAD9-47D3-BC08-93E7602F3E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3B21A22F-7935-4F52-8C21-F01C2077D0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BE014B0-F9A4-4DCA-8C54-8A5C2597AA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D95EA2B-B09C-4CF1-99AB-4CCA752BD9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BCFB904-0699-4D6E-9EB5-D6DF6D15E4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BDC8C58-1E0A-461E-B643-628B4961FA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63AB59ED-947E-455F-8670-561F858E8BA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886" y="117002"/>
            <a:ext cx="2880000" cy="6634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B7B99290-D067-489E-BF47-3C8BA77B27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FC4B-E158-4EFA-A2DF-F310FC047B8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182" y="179892"/>
            <a:ext cx="590274" cy="5902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49989" y="6301837"/>
            <a:ext cx="1733891" cy="3994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182" y="179892"/>
            <a:ext cx="590274" cy="5902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00" y="452670"/>
            <a:ext cx="10971609" cy="5952661"/>
          </a:xfrm>
          <a:prstGeom prst="rect">
            <a:avLst/>
          </a:prstGeom>
        </p:spPr>
        <p:txBody>
          <a:bodyPr lIns="48212" tIns="24107" rIns="48212" bIns="24107"/>
          <a:lstStyle>
            <a:lvl1pPr marL="431800" indent="-647700">
              <a:spcBef>
                <a:spcPts val="720"/>
              </a:spcBef>
              <a:buSzPct val="100000"/>
              <a:buFont typeface="Wingdings" panose="05000000000000000000" pitchFamily="2" charset="2"/>
              <a:buChar char="l"/>
              <a:defRPr sz="3900" baseline="0">
                <a:latin typeface="宋体" panose="02010600030101010101" pitchFamily="2" charset="-122"/>
                <a:ea typeface="微软雅黑" panose="020B0503020204020204" pitchFamily="34" charset="-122"/>
              </a:defRPr>
            </a:lvl1pPr>
            <a:lvl2pPr marL="647700" indent="647700">
              <a:spcBef>
                <a:spcPts val="720"/>
              </a:spcBef>
              <a:buSzPct val="100000"/>
              <a:buFont typeface="Wingdings" panose="05000000000000000000" pitchFamily="2" charset="2"/>
              <a:buChar char="u"/>
              <a:defRPr sz="3300" baseline="0">
                <a:latin typeface="宋体" panose="02010600030101010101" pitchFamily="2" charset="-122"/>
                <a:ea typeface="微软雅黑" panose="020B0503020204020204" pitchFamily="34" charset="-122"/>
              </a:defRPr>
            </a:lvl2pPr>
            <a:lvl3pPr marL="864235" indent="647700">
              <a:spcBef>
                <a:spcPts val="720"/>
              </a:spcBef>
              <a:buSzPct val="100000"/>
              <a:buFont typeface="Wingdings" panose="05000000000000000000" pitchFamily="2" charset="2"/>
              <a:buChar char="Ø"/>
              <a:defRPr sz="2900" baseline="0">
                <a:latin typeface="宋体" panose="02010600030101010101" pitchFamily="2" charset="-122"/>
              </a:defRPr>
            </a:lvl3pPr>
            <a:lvl4pPr marL="1080135" indent="647700">
              <a:spcBef>
                <a:spcPts val="720"/>
              </a:spcBef>
              <a:buSzPct val="100000"/>
              <a:buFontTx/>
              <a:buChar char="-"/>
              <a:defRPr sz="2900" baseline="0">
                <a:latin typeface="宋体" panose="02010600030101010101" pitchFamily="2" charset="-122"/>
              </a:defRPr>
            </a:lvl4pPr>
            <a:lvl5pPr>
              <a:spcBef>
                <a:spcPts val="720"/>
              </a:spcBef>
              <a:defRPr sz="3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C:\Users\len\Desktop\7-140129231040534.png"/>
          <p:cNvPicPr/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103306" y="142431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313916-D2EA-41BA-B4EC-3997F5DB327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B7B99290-D067-489E-BF47-3C8BA77B27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CB9C-8D37-42D5-8E76-7E565F04280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63945-3B01-4F00-A86C-79CC7D874B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883787"/>
            <a:ext cx="3403600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360738" y="934587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FFC4B-E158-4EFA-A2DF-F310FC047B8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6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 userDrawn="1"/>
        </p:nvSpPr>
        <p:spPr bwMode="auto">
          <a:xfrm>
            <a:off x="431800" y="981075"/>
            <a:ext cx="11277600" cy="0"/>
          </a:xfrm>
          <a:prstGeom prst="line">
            <a:avLst/>
          </a:prstGeom>
          <a:noFill/>
          <a:ln w="76200">
            <a:solidFill>
              <a:srgbClr val="497DB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7"/>
          <p:cNvSpPr>
            <a:spLocks noChangeShapeType="1"/>
          </p:cNvSpPr>
          <p:nvPr userDrawn="1"/>
        </p:nvSpPr>
        <p:spPr bwMode="auto">
          <a:xfrm>
            <a:off x="431800" y="981075"/>
            <a:ext cx="11277600" cy="0"/>
          </a:xfrm>
          <a:prstGeom prst="line">
            <a:avLst/>
          </a:prstGeom>
          <a:noFill/>
          <a:ln w="76200">
            <a:solidFill>
              <a:srgbClr val="497DB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7"/>
          <p:cNvSpPr>
            <a:spLocks noChangeShapeType="1"/>
          </p:cNvSpPr>
          <p:nvPr userDrawn="1"/>
        </p:nvSpPr>
        <p:spPr bwMode="auto">
          <a:xfrm>
            <a:off x="431800" y="981075"/>
            <a:ext cx="11277600" cy="0"/>
          </a:xfrm>
          <a:prstGeom prst="line">
            <a:avLst/>
          </a:prstGeom>
          <a:noFill/>
          <a:ln w="76200">
            <a:solidFill>
              <a:srgbClr val="497DB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6ABB6-B347-4128-BD1A-BE6A420D42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77A4-272C-4223-B3D7-46D0213847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FCC96-75F8-41C4-AAD4-743A3C9360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46E50-6633-44BB-85EF-15929185C3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ea typeface="微软雅黑" panose="020B0503020204020204" pitchFamily="34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313916-D2EA-41BA-B4EC-3997F5DB327F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</p:sldLayoutIdLst>
  <p:transition>
    <p:fade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A9D7A-CF0A-4AA6-9319-8997CDF103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E164E-CBDE-45B6-940D-28403180785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5313916-D2EA-41BA-B4EC-3997F5DB327F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</p:sldLayoutIdLst>
  <p:transition>
    <p:fade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7.xml"/><Relationship Id="rId2" Type="http://schemas.openxmlformats.org/officeDocument/2006/relationships/image" Target="../media/image1.png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microsoft.com/office/2007/relationships/hdphoto" Target="../media/image9.wdp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56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5.xml"/><Relationship Id="rId3" Type="http://schemas.microsoft.com/office/2007/relationships/hdphoto" Target="../media/image9.wdp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5.xml"/><Relationship Id="rId3" Type="http://schemas.microsoft.com/office/2007/relationships/hdphoto" Target="../media/image9.wdp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49.xml"/><Relationship Id="rId2" Type="http://schemas.openxmlformats.org/officeDocument/2006/relationships/image" Target="../media/image1.pn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" y="0"/>
            <a:ext cx="12216681" cy="68631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9301" y="1124744"/>
            <a:ext cx="12216681" cy="4040169"/>
          </a:xfrm>
          <a:prstGeom prst="rect">
            <a:avLst/>
          </a:prstGeom>
          <a:solidFill>
            <a:schemeClr val="bg1">
              <a:alpha val="83000"/>
            </a:schemeClr>
          </a:solidFill>
          <a:ln w="9525">
            <a:noFill/>
            <a:miter lim="800000"/>
          </a:ln>
        </p:spPr>
        <p:txBody>
          <a:bodyPr wrap="none" lIns="91434" tIns="45718" rIns="91434" bIns="45718" rtlCol="0" anchor="ctr"/>
          <a:lstStyle/>
          <a:p>
            <a:pPr marL="0" algn="ctr">
              <a:spcBef>
                <a:spcPts val="600"/>
              </a:spcBef>
              <a:spcAft>
                <a:spcPts val="600"/>
              </a:spcAft>
            </a:pPr>
            <a:endParaRPr lang="zh-CN" altLang="en-US" sz="3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" y="1930458"/>
            <a:ext cx="12192000" cy="2362639"/>
            <a:chOff x="0" y="1943098"/>
            <a:chExt cx="12192000" cy="2876800"/>
          </a:xfrm>
          <a:noFill/>
        </p:grpSpPr>
        <p:sp>
          <p:nvSpPr>
            <p:cNvPr id="7" name="矩形 6"/>
            <p:cNvSpPr/>
            <p:nvPr/>
          </p:nvSpPr>
          <p:spPr bwMode="auto">
            <a:xfrm>
              <a:off x="0" y="2102519"/>
              <a:ext cx="12192000" cy="104050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91434" tIns="45718" rIns="91434" bIns="45718" rtlCol="0" anchor="ctr"/>
            <a:lstStyle/>
            <a:p>
              <a:pPr lvl="0" algn="ctr" eaLnBrk="1" fontAlgn="auto" hangingPunct="1">
                <a:spcBef>
                  <a:spcPts val="600"/>
                </a:spcBef>
                <a:spcAft>
                  <a:spcPts val="600"/>
                </a:spcAft>
                <a:defRPr/>
              </a:pPr>
              <a:endParaRPr lang="zh-CN" altLang="en-US" sz="5500" b="1" dirty="0">
                <a:solidFill>
                  <a:srgbClr val="0000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lvl="0" algn="ctr" eaLnBrk="1" fontAlgn="auto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zh-CN" sz="6000" b="1" dirty="0">
                  <a:solidFill>
                    <a:srgbClr val="0000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第一性计算原理</a:t>
              </a:r>
              <a:endParaRPr lang="zh-CN" sz="6000" b="1" dirty="0">
                <a:solidFill>
                  <a:srgbClr val="0000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lvl="0" algn="ctr" eaLnBrk="1" fontAlgn="auto" hangingPunct="1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zh-CN" sz="6000" b="1" dirty="0">
                  <a:solidFill>
                    <a:srgbClr val="0000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在薄膜材料中的应用</a:t>
              </a:r>
              <a:endParaRPr lang="zh-CN" sz="5500" b="1" dirty="0">
                <a:solidFill>
                  <a:srgbClr val="0000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0" y="1943098"/>
              <a:ext cx="12192000" cy="7126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91434" tIns="45718" rIns="91434" bIns="4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0" y="4748631"/>
              <a:ext cx="12192000" cy="7126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91434" tIns="45718" rIns="91434" bIns="4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439816" y="1357157"/>
            <a:ext cx="2880000" cy="6634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67755" y="4149090"/>
            <a:ext cx="553847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汇报人：张朋朋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51932" y="2032732"/>
            <a:ext cx="5351145" cy="3005667"/>
            <a:chOff x="-1236133" y="1921934"/>
            <a:chExt cx="4764275" cy="3005667"/>
          </a:xfrm>
        </p:grpSpPr>
        <p:sp>
          <p:nvSpPr>
            <p:cNvPr id="10" name="平行四边形 9"/>
            <p:cNvSpPr/>
            <p:nvPr/>
          </p:nvSpPr>
          <p:spPr>
            <a:xfrm>
              <a:off x="1665286" y="1934634"/>
              <a:ext cx="1862856" cy="2992755"/>
            </a:xfrm>
            <a:prstGeom prst="parallelogram">
              <a:avLst>
                <a:gd name="adj" fmla="val 40113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平行四边形 2"/>
            <p:cNvSpPr/>
            <p:nvPr/>
          </p:nvSpPr>
          <p:spPr>
            <a:xfrm>
              <a:off x="-1236133" y="1921934"/>
              <a:ext cx="3657600" cy="3005667"/>
            </a:xfrm>
            <a:prstGeom prst="parallelogram">
              <a:avLst/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253397" y="3070939"/>
            <a:ext cx="2911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 flipH="1">
            <a:off x="-452238" y="-1577929"/>
            <a:ext cx="7085884" cy="3777816"/>
            <a:chOff x="5539442" y="-1892618"/>
            <a:chExt cx="7085884" cy="3777816"/>
          </a:xfrm>
        </p:grpSpPr>
        <p:sp>
          <p:nvSpPr>
            <p:cNvPr id="41" name="矩形 40"/>
            <p:cNvSpPr/>
            <p:nvPr/>
          </p:nvSpPr>
          <p:spPr>
            <a:xfrm rot="2700000">
              <a:off x="9889022" y="-1199514"/>
              <a:ext cx="2736304" cy="2736304"/>
            </a:xfrm>
            <a:prstGeom prst="rect">
              <a:avLst/>
            </a:prstGeom>
            <a:noFill/>
            <a:ln w="60325">
              <a:solidFill>
                <a:schemeClr val="tx1">
                  <a:lumMod val="75000"/>
                  <a:lumOff val="25000"/>
                  <a:alpha val="1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 rot="2700000">
              <a:off x="5539442" y="-1892618"/>
              <a:ext cx="2736304" cy="2736304"/>
            </a:xfrm>
            <a:prstGeom prst="rect">
              <a:avLst/>
            </a:prstGeom>
            <a:noFill/>
            <a:ln w="60325">
              <a:solidFill>
                <a:schemeClr val="tx1">
                  <a:lumMod val="75000"/>
                  <a:lumOff val="25000"/>
                  <a:alpha val="1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 rot="2700000">
              <a:off x="8069370" y="636246"/>
              <a:ext cx="1248952" cy="1248952"/>
            </a:xfrm>
            <a:prstGeom prst="rect">
              <a:avLst/>
            </a:prstGeom>
            <a:noFill/>
            <a:ln w="60325">
              <a:solidFill>
                <a:schemeClr val="tx1">
                  <a:lumMod val="75000"/>
                  <a:lumOff val="25000"/>
                  <a:alpha val="1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 rot="10800000" flipH="1">
            <a:off x="5591944" y="5661248"/>
            <a:ext cx="7085884" cy="3701616"/>
            <a:chOff x="-2683915" y="5296354"/>
            <a:chExt cx="7085884" cy="3701616"/>
          </a:xfrm>
        </p:grpSpPr>
        <p:sp>
          <p:nvSpPr>
            <p:cNvPr id="45" name="矩形 44"/>
            <p:cNvSpPr/>
            <p:nvPr/>
          </p:nvSpPr>
          <p:spPr>
            <a:xfrm rot="2700000">
              <a:off x="1665665" y="5989458"/>
              <a:ext cx="2736304" cy="2736304"/>
            </a:xfrm>
            <a:prstGeom prst="rect">
              <a:avLst/>
            </a:prstGeom>
            <a:noFill/>
            <a:ln w="60325">
              <a:solidFill>
                <a:schemeClr val="tx1">
                  <a:lumMod val="75000"/>
                  <a:lumOff val="25000"/>
                  <a:alpha val="1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 rot="2700000">
              <a:off x="-2683915" y="5296354"/>
              <a:ext cx="2736304" cy="2736304"/>
            </a:xfrm>
            <a:prstGeom prst="rect">
              <a:avLst/>
            </a:prstGeom>
            <a:noFill/>
            <a:ln w="60325">
              <a:solidFill>
                <a:schemeClr val="tx1">
                  <a:lumMod val="75000"/>
                  <a:lumOff val="25000"/>
                  <a:alpha val="1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 rot="2700000">
              <a:off x="-77787" y="7749018"/>
              <a:ext cx="1248952" cy="1248952"/>
            </a:xfrm>
            <a:prstGeom prst="rect">
              <a:avLst/>
            </a:prstGeom>
            <a:noFill/>
            <a:ln w="60325">
              <a:solidFill>
                <a:schemeClr val="tx1">
                  <a:lumMod val="75000"/>
                  <a:lumOff val="25000"/>
                  <a:alpha val="1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76618" y="112497"/>
            <a:ext cx="1278591" cy="1634836"/>
            <a:chOff x="1150573" y="0"/>
            <a:chExt cx="1278591" cy="16348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0573" y="0"/>
              <a:ext cx="1278591" cy="1634836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08113" y="89433"/>
              <a:ext cx="963511" cy="963511"/>
            </a:xfrm>
            <a:prstGeom prst="rect">
              <a:avLst/>
            </a:prstGeom>
          </p:spPr>
        </p:pic>
      </p:grpSp>
      <p:sp>
        <p:nvSpPr>
          <p:cNvPr id="8" name="矩形: 圆角 24"/>
          <p:cNvSpPr/>
          <p:nvPr>
            <p:custDataLst>
              <p:tags r:id="rId4"/>
            </p:custDataLst>
          </p:nvPr>
        </p:nvSpPr>
        <p:spPr>
          <a:xfrm>
            <a:off x="6887845" y="1412875"/>
            <a:ext cx="3951605" cy="5486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第一性原理计算介绍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5" name="矩形: 圆角 25"/>
          <p:cNvSpPr/>
          <p:nvPr>
            <p:custDataLst>
              <p:tags r:id="rId5"/>
            </p:custDataLst>
          </p:nvPr>
        </p:nvSpPr>
        <p:spPr>
          <a:xfrm>
            <a:off x="6263434" y="1412664"/>
            <a:ext cx="550039" cy="5486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: 圆角 24"/>
          <p:cNvSpPr/>
          <p:nvPr>
            <p:custDataLst>
              <p:tags r:id="rId6"/>
            </p:custDataLst>
          </p:nvPr>
        </p:nvSpPr>
        <p:spPr>
          <a:xfrm>
            <a:off x="6887845" y="2814320"/>
            <a:ext cx="4255770" cy="901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二维卟啉薄膜对气体的吸附和检测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2" name="矩形: 圆角 25"/>
          <p:cNvSpPr/>
          <p:nvPr>
            <p:custDataLst>
              <p:tags r:id="rId7"/>
            </p:custDataLst>
          </p:nvPr>
        </p:nvSpPr>
        <p:spPr>
          <a:xfrm>
            <a:off x="6239939" y="2924599"/>
            <a:ext cx="550039" cy="5486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en-US" altLang="zh-CN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矩形: 圆角 24"/>
          <p:cNvSpPr/>
          <p:nvPr>
            <p:custDataLst>
              <p:tags r:id="rId8"/>
            </p:custDataLst>
          </p:nvPr>
        </p:nvSpPr>
        <p:spPr>
          <a:xfrm>
            <a:off x="6887845" y="4149090"/>
            <a:ext cx="1844675" cy="5486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致谢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矩形: 圆角 25"/>
          <p:cNvSpPr/>
          <p:nvPr>
            <p:custDataLst>
              <p:tags r:id="rId9"/>
            </p:custDataLst>
          </p:nvPr>
        </p:nvSpPr>
        <p:spPr>
          <a:xfrm>
            <a:off x="6239939" y="4143164"/>
            <a:ext cx="550039" cy="5486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en-US" altLang="zh-CN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10000">
        <p15:prstTrans prst="pageCurlDouble"/>
      </p:transition>
    </mc:Choice>
    <mc:Fallback>
      <p:transition spd="slow" advClick="0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8"/>
          <p:cNvSpPr/>
          <p:nvPr/>
        </p:nvSpPr>
        <p:spPr>
          <a:xfrm>
            <a:off x="4391025" y="2675255"/>
            <a:ext cx="3409950" cy="69151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第一部分</a:t>
            </a:r>
            <a:endParaRPr lang="zh-CN" altLang="en-US" sz="4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9540" y="3933190"/>
            <a:ext cx="9203690" cy="7683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400" b="1">
                <a:ln w="9525" cmpd="sng">
                  <a:noFill/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第一性原理计算（</a:t>
            </a:r>
            <a:r>
              <a:rPr lang="en-US" altLang="zh-CN" sz="4400" b="1">
                <a:ln w="9525" cmpd="sng">
                  <a:noFill/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First Principle</a:t>
            </a:r>
            <a:r>
              <a:rPr lang="zh-CN" altLang="en-US" sz="4400" b="1">
                <a:ln w="9525" cmpd="sng">
                  <a:noFill/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4400" b="1">
                <a:ln w="9525" cmpd="sng">
                  <a:noFill/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4400" b="1">
              <a:ln w="9525" cmpd="sng">
                <a:noFill/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63421" y="188757"/>
            <a:ext cx="2880000" cy="66341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96225" y="1587500"/>
            <a:ext cx="963295" cy="9632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 cstate="screen">
            <a:clrChange>
              <a:clrFrom>
                <a:srgbClr val="939393">
                  <a:alpha val="57647"/>
                </a:srgbClr>
              </a:clrFrom>
              <a:clrTo>
                <a:srgbClr val="939393">
                  <a:alpha val="57647"/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9873" y="1412875"/>
            <a:ext cx="963511" cy="963511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1"/>
          <p:cNvSpPr txBox="1"/>
          <p:nvPr/>
        </p:nvSpPr>
        <p:spPr bwMode="auto">
          <a:xfrm>
            <a:off x="335280" y="1845310"/>
            <a:ext cx="482981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75000"/>
              <a:buFont typeface="Wingdings" panose="05000000000000000000" pitchFamily="2" charset="2"/>
              <a:buChar char="p"/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1pPr>
            <a:lvl2pPr marL="360680" indent="-36068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60000"/>
              <a:buFont typeface="Wingdings" panose="05000000000000000000" pitchFamily="2" charset="2"/>
              <a:buChar char="Ø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2pPr>
            <a:lvl3pPr marL="624205" indent="-26543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3pPr>
            <a:lvl4pPr marL="16002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4pPr>
            <a:lvl5pPr marL="20574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5pPr>
            <a:lvl6pPr marL="25146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6pPr>
            <a:lvl7pPr marL="29718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7pPr>
            <a:lvl8pPr marL="34290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8pPr>
            <a:lvl9pPr marL="38862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9pPr>
          </a:lstStyle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薛定谔方程：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整合了波动方程和物质波的概念，即微观粒子的运动可以用其状态随时间的变化规律描述。能够得到体系的能量</a:t>
            </a:r>
            <a:r>
              <a:rPr lang="en-US" altLang="zh-CN" sz="22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2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、能带、态密度等</a:t>
            </a:r>
            <a:endParaRPr lang="zh-CN" altLang="en-US" sz="22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endParaRPr lang="zh-CN" altLang="en-US" sz="22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原因</a:t>
            </a:r>
            <a:r>
              <a:rPr lang="zh-CN" altLang="en-US" sz="22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：在量子力学中，牛顿力学已经不能够描述微观体系的状态，薛定谔方程也被成为量子力学中的牛顿第二定律（</a:t>
            </a:r>
            <a:r>
              <a:rPr lang="en-US" altLang="zh-CN" sz="22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F=ma</a:t>
            </a:r>
            <a:r>
              <a:rPr lang="zh-CN" altLang="en-US" sz="22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2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890" y="11252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一、第一性原理计算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9" name="图片 8" descr="薛定谔方程推导"/>
          <p:cNvPicPr>
            <a:picLocks noChangeAspect="1"/>
          </p:cNvPicPr>
          <p:nvPr/>
        </p:nvPicPr>
        <p:blipFill>
          <a:blip r:embed="rId1"/>
          <a:srcRect b="8842"/>
          <a:stretch>
            <a:fillRect/>
          </a:stretch>
        </p:blipFill>
        <p:spPr>
          <a:xfrm>
            <a:off x="5297805" y="1412875"/>
            <a:ext cx="6558915" cy="4917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1"/>
          <p:cNvSpPr txBox="1"/>
          <p:nvPr/>
        </p:nvSpPr>
        <p:spPr bwMode="auto">
          <a:xfrm>
            <a:off x="335280" y="1845310"/>
            <a:ext cx="482981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75000"/>
              <a:buFont typeface="Wingdings" panose="05000000000000000000" pitchFamily="2" charset="2"/>
              <a:buChar char="p"/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1pPr>
            <a:lvl2pPr marL="360680" indent="-36068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60000"/>
              <a:buFont typeface="Wingdings" panose="05000000000000000000" pitchFamily="2" charset="2"/>
              <a:buChar char="Ø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2pPr>
            <a:lvl3pPr marL="624205" indent="-26543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3pPr>
            <a:lvl4pPr marL="16002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4pPr>
            <a:lvl5pPr marL="20574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5pPr>
            <a:lvl6pPr marL="25146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6pPr>
            <a:lvl7pPr marL="29718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7pPr>
            <a:lvl8pPr marL="34290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8pPr>
            <a:lvl9pPr marL="38862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9pPr>
          </a:lstStyle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密度泛函理论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(DFT)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用于研究多电子体系的电子结构性质，其方法是用电子密度函数代替波函数作为研究的基本参量。</a:t>
            </a: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原因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在当今计算机可执行范围内，直接用计算机表征材料的性质并不可行。</a:t>
            </a:r>
            <a:endParaRPr lang="zh-CN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890" y="11252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一、第一性原理计算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7665" y="3789045"/>
            <a:ext cx="5904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Born-Oppenheimer</a:t>
            </a:r>
            <a:r>
              <a:rPr lang="zh-CN" altLang="en-US" b="1"/>
              <a:t>近似：又称为绝热近似，忽略了原子核运动对电子的影响。（原子核质量很大，电子的运动速度很快），变量降为</a:t>
            </a:r>
            <a:r>
              <a:rPr lang="en-US" altLang="zh-CN" b="1"/>
              <a:t>3N</a:t>
            </a:r>
            <a:endParaRPr lang="en-US" altLang="zh-CN" b="1"/>
          </a:p>
        </p:txBody>
      </p:sp>
      <p:pic>
        <p:nvPicPr>
          <p:cNvPr id="4" name="图片 3" descr="5ac6ebd8a2f26a4603e98c7f1370c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320" y="1485265"/>
            <a:ext cx="7218680" cy="4813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96230" y="2205355"/>
            <a:ext cx="6075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对于</a:t>
            </a:r>
            <a:r>
              <a:rPr lang="en-US" altLang="zh-CN" b="1"/>
              <a:t>N</a:t>
            </a:r>
            <a:r>
              <a:rPr lang="zh-CN" altLang="en-US" b="1"/>
              <a:t>个电子，</a:t>
            </a:r>
            <a:r>
              <a:rPr lang="en-US" altLang="zh-CN" b="1"/>
              <a:t>M</a:t>
            </a:r>
            <a:r>
              <a:rPr lang="zh-CN" altLang="en-US" b="1"/>
              <a:t>个原子核构成的多粒子体系，其哈密顿算子对应的定态薛定谔方程：</a:t>
            </a:r>
            <a:endParaRPr lang="zh-CN" altLang="en-US" b="1"/>
          </a:p>
        </p:txBody>
      </p:sp>
      <p:pic>
        <p:nvPicPr>
          <p:cNvPr id="8" name="图片 7" descr="87762fc34796004fe1180d149c2f9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10" y="2925445"/>
            <a:ext cx="6370955" cy="3898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447665" y="3347085"/>
            <a:ext cx="6444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在三维体系中，波函数包含</a:t>
            </a:r>
            <a:r>
              <a:rPr lang="en-US" altLang="zh-CN" b="1"/>
              <a:t>3</a:t>
            </a:r>
            <a:r>
              <a:rPr lang="zh-CN" altLang="en-US" b="1"/>
              <a:t>（</a:t>
            </a:r>
            <a:r>
              <a:rPr lang="en-US" altLang="zh-CN" b="1"/>
              <a:t>M+N</a:t>
            </a:r>
            <a:r>
              <a:rPr lang="zh-CN" altLang="en-US" b="1"/>
              <a:t>）个变量，计算无法实现</a:t>
            </a:r>
            <a:endParaRPr lang="zh-CN" altLang="en-US" b="1"/>
          </a:p>
        </p:txBody>
      </p:sp>
      <p:pic>
        <p:nvPicPr>
          <p:cNvPr id="11" name="图片 10" descr="6f8dc11d8eacd20f8f872ddb05c5d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60" y="4711065"/>
            <a:ext cx="6408420" cy="8001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483860" y="5649595"/>
            <a:ext cx="607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1952</a:t>
            </a:r>
            <a:r>
              <a:rPr lang="zh-CN" altLang="en-US" b="1"/>
              <a:t>年，</a:t>
            </a:r>
            <a:r>
              <a:rPr lang="en-US" altLang="zh-CN" b="1"/>
              <a:t>Thomas</a:t>
            </a:r>
            <a:r>
              <a:rPr lang="zh-CN" altLang="en-US" b="1"/>
              <a:t>和</a:t>
            </a:r>
            <a:r>
              <a:rPr lang="en-US" altLang="zh-CN" b="1"/>
              <a:t>Fermi</a:t>
            </a:r>
            <a:r>
              <a:rPr lang="zh-CN" altLang="en-US" b="1"/>
              <a:t>提出了密度泛函理论的雏形</a:t>
            </a:r>
            <a:endParaRPr lang="zh-CN" altLang="en-US" b="1"/>
          </a:p>
        </p:txBody>
      </p:sp>
      <p:sp>
        <p:nvSpPr>
          <p:cNvPr id="13" name="文本框 12"/>
          <p:cNvSpPr txBox="1"/>
          <p:nvPr/>
        </p:nvSpPr>
        <p:spPr>
          <a:xfrm>
            <a:off x="5520055" y="6021705"/>
            <a:ext cx="65881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1964</a:t>
            </a:r>
            <a:r>
              <a:rPr lang="zh-CN" altLang="en-US" b="1"/>
              <a:t>年，</a:t>
            </a:r>
            <a:r>
              <a:rPr lang="en-US" altLang="zh-CN" b="1"/>
              <a:t>Hohenberg-Kohn(HK)</a:t>
            </a:r>
            <a:r>
              <a:rPr lang="zh-CN" altLang="en-US" b="1"/>
              <a:t>正式提出了密度泛函理论：电子密度</a:t>
            </a:r>
            <a:r>
              <a:rPr lang="zh-CN" altLang="en-US" b="1">
                <a:cs typeface="Arial" panose="020B0604020202020204" pitchFamily="34" charset="0"/>
              </a:rPr>
              <a:t>ρ</a:t>
            </a:r>
            <a:r>
              <a:rPr lang="zh-CN" altLang="en-US" b="1"/>
              <a:t>可以唯一确定外电势、泛函的最小值就是体系的基态能量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1"/>
          <p:cNvSpPr txBox="1"/>
          <p:nvPr/>
        </p:nvSpPr>
        <p:spPr bwMode="auto">
          <a:xfrm>
            <a:off x="335280" y="1845310"/>
            <a:ext cx="482981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75000"/>
              <a:buFont typeface="Wingdings" panose="05000000000000000000" pitchFamily="2" charset="2"/>
              <a:buChar char="p"/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1pPr>
            <a:lvl2pPr marL="360680" indent="-36068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60000"/>
              <a:buFont typeface="Wingdings" panose="05000000000000000000" pitchFamily="2" charset="2"/>
              <a:buChar char="Ø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2pPr>
            <a:lvl3pPr marL="624205" indent="-26543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3pPr>
            <a:lvl4pPr marL="16002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4pPr>
            <a:lvl5pPr marL="20574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5pPr>
            <a:lvl6pPr marL="25146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6pPr>
            <a:lvl7pPr marL="29718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7pPr>
            <a:lvl8pPr marL="34290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8pPr>
            <a:lvl9pPr marL="38862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9pPr>
          </a:lstStyle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密度泛函理论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(DFT)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用于研究多电子体系的电子结构性质，其方法是用电子密度函数代替波函数作为研究的基本参量。</a:t>
            </a: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原因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在当今计算机可执行范围内，直接用计算机表征材料的性质并不可行。</a:t>
            </a:r>
            <a:endParaRPr lang="zh-CN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890" y="11252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一、第一性原理计算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03520" y="1412875"/>
            <a:ext cx="5801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密度泛函只是空间坐标的函数，因此变量由</a:t>
            </a:r>
            <a:r>
              <a:rPr lang="en-US" altLang="zh-CN" b="1">
                <a:solidFill>
                  <a:srgbClr val="FF0000"/>
                </a:solidFill>
              </a:rPr>
              <a:t>3N</a:t>
            </a:r>
            <a:r>
              <a:rPr lang="zh-CN" altLang="en-US" b="1">
                <a:solidFill>
                  <a:srgbClr val="FF0000"/>
                </a:solidFill>
              </a:rPr>
              <a:t>降为了</a:t>
            </a:r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03520" y="2008505"/>
            <a:ext cx="56324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1965</a:t>
            </a:r>
            <a:r>
              <a:rPr lang="zh-CN" altLang="en-US" b="1"/>
              <a:t>年，</a:t>
            </a:r>
            <a:r>
              <a:rPr lang="en-US" altLang="zh-CN" b="1"/>
              <a:t>Kohn</a:t>
            </a:r>
            <a:r>
              <a:rPr lang="zh-CN" altLang="en-US" b="1"/>
              <a:t>和沈吕九</a:t>
            </a:r>
            <a:r>
              <a:rPr lang="en-US" altLang="zh-CN" b="1"/>
              <a:t>(KS)</a:t>
            </a:r>
            <a:r>
              <a:rPr lang="zh-CN" altLang="en-US" b="1"/>
              <a:t>给出了密度泛函各个项的具体描述形式。使得函数进入真正实际应用阶段。</a:t>
            </a:r>
            <a:endParaRPr lang="zh-CN" altLang="en-US" b="1"/>
          </a:p>
          <a:p>
            <a:r>
              <a:rPr lang="zh-CN" altLang="en-US" b="1"/>
              <a:t>主要思想：把相互作用的多粒子体系转换到无相互作用的单粒子系统，把电子间的相互作用归结到未知的交换关联势中</a:t>
            </a:r>
            <a:endParaRPr lang="zh-CN" altLang="en-US" b="1"/>
          </a:p>
        </p:txBody>
      </p:sp>
      <p:pic>
        <p:nvPicPr>
          <p:cNvPr id="14" name="图片 13" descr="a89025de5cffb12e52912c89ce7c6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460" y="3484880"/>
            <a:ext cx="5322570" cy="1664970"/>
          </a:xfrm>
          <a:prstGeom prst="rect">
            <a:avLst/>
          </a:prstGeom>
        </p:spPr>
      </p:pic>
      <p:pic>
        <p:nvPicPr>
          <p:cNvPr id="15" name="图片 14" descr="b3ab166561785ea8090f9fbc63c5e5e"/>
          <p:cNvPicPr>
            <a:picLocks noChangeAspect="1"/>
          </p:cNvPicPr>
          <p:nvPr/>
        </p:nvPicPr>
        <p:blipFill>
          <a:blip r:embed="rId2"/>
          <a:srcRect b="52756"/>
          <a:stretch>
            <a:fillRect/>
          </a:stretch>
        </p:blipFill>
        <p:spPr>
          <a:xfrm>
            <a:off x="5447665" y="5445125"/>
            <a:ext cx="5120640" cy="935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1"/>
          <p:cNvSpPr txBox="1"/>
          <p:nvPr/>
        </p:nvSpPr>
        <p:spPr bwMode="auto">
          <a:xfrm>
            <a:off x="335280" y="1845310"/>
            <a:ext cx="482981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75000"/>
              <a:buFont typeface="Wingdings" panose="05000000000000000000" pitchFamily="2" charset="2"/>
              <a:buChar char="p"/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1pPr>
            <a:lvl2pPr marL="360680" indent="-36068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SzPct val="60000"/>
              <a:buFont typeface="Wingdings" panose="05000000000000000000" pitchFamily="2" charset="2"/>
              <a:buChar char="Ø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2pPr>
            <a:lvl3pPr marL="624205" indent="-265430" defTabSz="685800">
              <a:lnSpc>
                <a:spcPct val="110000"/>
              </a:lnSpc>
              <a:spcBef>
                <a:spcPts val="600"/>
              </a:spcBef>
              <a:buClr>
                <a:srgbClr val="0000CC"/>
              </a:buClr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3pPr>
            <a:lvl4pPr marL="16002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4pPr>
            <a:lvl5pPr marL="2057400" indent="-228600" defTabSz="6858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5pPr>
            <a:lvl6pPr marL="25146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6pPr>
            <a:lvl7pPr marL="29718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7pPr>
            <a:lvl8pPr marL="34290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8pPr>
            <a:lvl9pPr marL="3886200" indent="-228600" defTabSz="68580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0000FF"/>
              </a:buClr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  <a:cs typeface="微软雅黑" panose="020B0503020204020204" pitchFamily="34" charset="-122"/>
              </a:defRPr>
            </a:lvl9pPr>
          </a:lstStyle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密度泛函理论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(DFT)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用于研究多电子体系的电子结构性质，其方法是用电子密度函数代替波函数作为研究的基本参量。</a:t>
            </a: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endParaRPr lang="zh-CN" altLang="en-US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3525" lvl="2" indent="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None/>
              <a:defRPr/>
            </a:pP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原因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在当今计算机可执行范围内，直接用计算机表征材料的性质并不可行。</a:t>
            </a:r>
            <a:endParaRPr lang="zh-CN" sz="2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890" y="11252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005B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一、第一性原理计算</a:t>
            </a:r>
            <a:endParaRPr lang="zh-CN" altLang="en-US" sz="3200" b="1" kern="0" dirty="0">
              <a:solidFill>
                <a:srgbClr val="005BA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945" y="1196975"/>
            <a:ext cx="3753485" cy="541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8"/>
          <p:cNvSpPr/>
          <p:nvPr/>
        </p:nvSpPr>
        <p:spPr>
          <a:xfrm>
            <a:off x="4391025" y="2675255"/>
            <a:ext cx="3409950" cy="69151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第二部分</a:t>
            </a:r>
            <a:endParaRPr lang="zh-CN" altLang="en-US" sz="4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930" y="3861435"/>
            <a:ext cx="11279505" cy="7683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400" b="1">
                <a:ln w="9525" cmpd="sng">
                  <a:noFill/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二维金属卟啉薄膜对有害气体的吸附和检测</a:t>
            </a:r>
            <a:endParaRPr lang="zh-CN" altLang="en-US" sz="4400" b="1">
              <a:ln w="9525" cmpd="sng">
                <a:noFill/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63421" y="188757"/>
            <a:ext cx="2880000" cy="66341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96225" y="1587500"/>
            <a:ext cx="963295" cy="9632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 cstate="screen">
            <a:clrChange>
              <a:clrFrom>
                <a:srgbClr val="939393">
                  <a:alpha val="57647"/>
                </a:srgbClr>
              </a:clrFrom>
              <a:clrTo>
                <a:srgbClr val="939393">
                  <a:alpha val="57647"/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9873" y="1412875"/>
            <a:ext cx="963511" cy="963511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6"/>
          <p:cNvSpPr txBox="1"/>
          <p:nvPr/>
        </p:nvSpPr>
        <p:spPr>
          <a:xfrm>
            <a:off x="407035" y="1125220"/>
            <a:ext cx="9543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5BAC"/>
                </a:solidFill>
              </a:rPr>
              <a:t>二、二维金属卟啉薄膜对有害气体的吸附和检测</a:t>
            </a:r>
            <a:endParaRPr lang="zh-CN" altLang="en-US" dirty="0">
              <a:solidFill>
                <a:srgbClr val="005BAC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78855" y="3632200"/>
            <a:ext cx="1933575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900" dirty="0"/>
          </a:p>
        </p:txBody>
      </p:sp>
      <p:sp>
        <p:nvSpPr>
          <p:cNvPr id="40" name="矩形 39"/>
          <p:cNvSpPr/>
          <p:nvPr/>
        </p:nvSpPr>
        <p:spPr>
          <a:xfrm>
            <a:off x="8841105" y="3632200"/>
            <a:ext cx="1933575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900" dirty="0"/>
          </a:p>
        </p:txBody>
      </p:sp>
      <p:sp>
        <p:nvSpPr>
          <p:cNvPr id="3" name="文本框 2"/>
          <p:cNvSpPr txBox="1"/>
          <p:nvPr/>
        </p:nvSpPr>
        <p:spPr>
          <a:xfrm>
            <a:off x="551180" y="1917065"/>
            <a:ext cx="406400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2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本文基于软件VASP，密度泛函理论方法（DFT），所有DFT计算均是在广义梯度近似（GGA）下Perdew_x0002_Burke-Ernzerhof (PBE)形式中描述电子交换关联作用。</a:t>
            </a:r>
            <a:endParaRPr kumimoji="1" lang="zh-CN" altLang="en-US" sz="22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63565" y="17729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MPP-Grid (M= Fe, Co, Zn)吸附CO的</a:t>
            </a:r>
            <a:endParaRPr lang="zh-CN" altLang="en-US"/>
          </a:p>
          <a:p>
            <a:r>
              <a:rPr lang="zh-CN" altLang="en-US"/>
              <a:t>最稳定结构如图</a:t>
            </a:r>
            <a:r>
              <a:rPr lang="en-US" altLang="zh-CN"/>
              <a:t>3.3</a:t>
            </a:r>
            <a:r>
              <a:rPr lang="zh-CN" altLang="en-US"/>
              <a:t>所示</a:t>
            </a:r>
            <a:endParaRPr lang="zh-CN" altLang="en-US"/>
          </a:p>
        </p:txBody>
      </p:sp>
      <p:pic>
        <p:nvPicPr>
          <p:cNvPr id="8" name="图片 7" descr="52d3f1bc0c79bbfafed31550ec595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955" y="2493010"/>
            <a:ext cx="4868545" cy="2749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6"/>
          <p:cNvSpPr txBox="1"/>
          <p:nvPr/>
        </p:nvSpPr>
        <p:spPr>
          <a:xfrm>
            <a:off x="407035" y="1125220"/>
            <a:ext cx="9543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5BAC"/>
                </a:solidFill>
              </a:rPr>
              <a:t>二、二维金属卟啉薄膜对有害气体的吸附和检测</a:t>
            </a:r>
            <a:endParaRPr lang="zh-CN" altLang="en-US" dirty="0">
              <a:solidFill>
                <a:srgbClr val="005BAC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78855" y="3632200"/>
            <a:ext cx="1933575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900" dirty="0"/>
          </a:p>
        </p:txBody>
      </p:sp>
      <p:sp>
        <p:nvSpPr>
          <p:cNvPr id="40" name="矩形 39"/>
          <p:cNvSpPr/>
          <p:nvPr/>
        </p:nvSpPr>
        <p:spPr>
          <a:xfrm>
            <a:off x="8841105" y="3632200"/>
            <a:ext cx="1933575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900" dirty="0"/>
          </a:p>
        </p:txBody>
      </p:sp>
      <p:sp>
        <p:nvSpPr>
          <p:cNvPr id="3" name="文本框 2"/>
          <p:cNvSpPr txBox="1"/>
          <p:nvPr/>
        </p:nvSpPr>
        <p:spPr>
          <a:xfrm>
            <a:off x="551180" y="1917065"/>
            <a:ext cx="4064000" cy="5157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1" lang="zh-CN" altLang="en-US" sz="22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结论：FePP-Grid和CoPP-Grid对CO的吸附能均大于-0.50 eV，所以属于化学吸附，而ZnPP-Grid对CO的吸附属于物理吸附。值得注意的是，FePP-Grid对CO的吸附能达到-1.43 eV，属于强化学吸附。，与ZnPP</a:t>
            </a:r>
            <a:r>
              <a:rPr kumimoji="1" lang="en-US" altLang="zh-CN" sz="22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2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Grid基底相比，FePP-Grid，CoPP-Grid与CO分子之间的电子转移现象更明显。综上所述，在三种基底中，FePP-Grid对CO有最强的吸附能力。</a:t>
            </a:r>
            <a:endParaRPr kumimoji="1" lang="zh-CN" altLang="en-US" sz="22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 descr="63ed3af48f65d91b8bde1cc2b0309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055" y="1844675"/>
            <a:ext cx="5523230" cy="4691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047" cy="684831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657350" y="1072515"/>
            <a:ext cx="8875395" cy="477583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08" rIns="91418" bIns="45708"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953" y="1444702"/>
            <a:ext cx="12192000" cy="3995735"/>
            <a:chOff x="-28575" y="1739900"/>
            <a:chExt cx="12192000" cy="3200496"/>
          </a:xfrm>
        </p:grpSpPr>
        <p:sp>
          <p:nvSpPr>
            <p:cNvPr id="6" name="矩形 5"/>
            <p:cNvSpPr/>
            <p:nvPr/>
          </p:nvSpPr>
          <p:spPr>
            <a:xfrm>
              <a:off x="-28575" y="1739996"/>
              <a:ext cx="12192000" cy="3200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altLang="zh-CN" sz="39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39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flipV="1">
              <a:off x="5590996" y="1739900"/>
              <a:ext cx="1010008" cy="515186"/>
            </a:xfrm>
            <a:prstGeom prst="triangle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68365" y="87312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367808" y="2004223"/>
            <a:ext cx="2880000" cy="66341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60550" y="3285490"/>
            <a:ext cx="84677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感谢大家</a:t>
            </a:r>
            <a:endParaRPr lang="zh-CN" altLang="en-US" sz="54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DIAGRAM_VIRTUALLY_FRAME" val="{&quot;height&quot;:362.09999999999997,&quot;left&quot;:491.3337795275591,&quot;top&quot;:111.23338582677165,&quot;width&quot;:386.1162204724409}"/>
</p:tagLst>
</file>

<file path=ppt/tags/tag2.xml><?xml version="1.0" encoding="utf-8"?>
<p:tagLst xmlns:p="http://schemas.openxmlformats.org/presentationml/2006/main">
  <p:tag name="KSO_WM_DIAGRAM_VIRTUALLY_FRAME" val="{&quot;height&quot;:362.09999999999997,&quot;left&quot;:491.3337795275591,&quot;top&quot;:111.23338582677165,&quot;width&quot;:386.1162204724409}"/>
</p:tagLst>
</file>

<file path=ppt/tags/tag3.xml><?xml version="1.0" encoding="utf-8"?>
<p:tagLst xmlns:p="http://schemas.openxmlformats.org/presentationml/2006/main">
  <p:tag name="KSO_WM_DIAGRAM_VIRTUALLY_FRAME" val="{&quot;height&quot;:362.09999999999997,&quot;left&quot;:491.3337795275591,&quot;top&quot;:111.23338582677165,&quot;width&quot;:386.1162204724409}"/>
</p:tagLst>
</file>

<file path=ppt/tags/tag4.xml><?xml version="1.0" encoding="utf-8"?>
<p:tagLst xmlns:p="http://schemas.openxmlformats.org/presentationml/2006/main">
  <p:tag name="KSO_WM_DIAGRAM_VIRTUALLY_FRAME" val="{&quot;height&quot;:362.09999999999997,&quot;left&quot;:491.3337795275591,&quot;top&quot;:111.23338582677165,&quot;width&quot;:386.1162204724409}"/>
</p:tagLst>
</file>

<file path=ppt/tags/tag5.xml><?xml version="1.0" encoding="utf-8"?>
<p:tagLst xmlns:p="http://schemas.openxmlformats.org/presentationml/2006/main">
  <p:tag name="KSO_WM_DIAGRAM_VIRTUALLY_FRAME" val="{&quot;height&quot;:362.09999999999997,&quot;left&quot;:491.3337795275591,&quot;top&quot;:111.23338582677165,&quot;width&quot;:386.1162204724409}"/>
</p:tagLst>
</file>

<file path=ppt/tags/tag6.xml><?xml version="1.0" encoding="utf-8"?>
<p:tagLst xmlns:p="http://schemas.openxmlformats.org/presentationml/2006/main">
  <p:tag name="KSO_WM_DIAGRAM_VIRTUALLY_FRAME" val="{&quot;height&quot;:362.09999999999997,&quot;left&quot;:491.3337795275591,&quot;top&quot;:111.23338582677165,&quot;width&quot;:386.1162204724409}"/>
</p:tagLst>
</file>

<file path=ppt/tags/tag7.xml><?xml version="1.0" encoding="utf-8"?>
<p:tagLst xmlns:p="http://schemas.openxmlformats.org/presentationml/2006/main">
  <p:tag name="commondata" val="eyJoZGlkIjoiNWM3YWYyMzJiZDNiZmQ3MGUxMGU1OTE3YmJkOTcyMmYifQ=="/>
</p:tagLst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wrap="square" lIns="0" tIns="0" rIns="0" bIns="0" anchor="ctr" anchorCtr="0">
        <a:spAutoFit/>
      </a:bodyPr>
      <a:lstStyle>
        <a:defPPr marL="446405" indent="11430">
          <a:lnSpc>
            <a:spcPct val="125000"/>
          </a:lnSpc>
          <a:spcBef>
            <a:spcPct val="50000"/>
          </a:spcBef>
          <a:defRPr sz="2400" b="1" dirty="0">
            <a:latin typeface="仿宋_GB2312" panose="02010609030101010101" pitchFamily="49" charset="-122"/>
            <a:ea typeface="仿宋_GB2312" panose="02010609030101010101" pitchFamily="49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wrap="square" lIns="0" tIns="0" rIns="0" bIns="0" anchor="ctr" anchorCtr="0">
        <a:spAutoFit/>
      </a:bodyPr>
      <a:lstStyle>
        <a:defPPr marL="446405" indent="11430">
          <a:lnSpc>
            <a:spcPct val="125000"/>
          </a:lnSpc>
          <a:spcBef>
            <a:spcPct val="50000"/>
          </a:spcBef>
          <a:defRPr sz="2400" b="1" dirty="0">
            <a:latin typeface="仿宋_GB2312" panose="02010609030101010101" pitchFamily="49" charset="-122"/>
            <a:ea typeface="仿宋_GB2312" panose="02010609030101010101" pitchFamily="49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wrap="square" lIns="0" tIns="0" rIns="0" bIns="0" anchor="ctr" anchorCtr="0">
        <a:spAutoFit/>
      </a:bodyPr>
      <a:lstStyle>
        <a:defPPr marL="446405" indent="11430">
          <a:lnSpc>
            <a:spcPct val="125000"/>
          </a:lnSpc>
          <a:spcBef>
            <a:spcPct val="50000"/>
          </a:spcBef>
          <a:defRPr sz="2400" b="1" dirty="0">
            <a:latin typeface="仿宋_GB2312" panose="02010609030101010101" pitchFamily="49" charset="-122"/>
            <a:ea typeface="仿宋_GB2312" panose="02010609030101010101" pitchFamily="49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blipFill dpi="0" rotWithShape="1">
          <a:blip xmlns:r="http://schemas.openxmlformats.org/officeDocument/2006/relationships" r:embed="rId1" cstate="print"/>
          <a:srcRect/>
          <a:stretch>
            <a:fillRect/>
          </a:stretch>
        </a:blipFill>
        <a:ln w="9525">
          <a:noFill/>
          <a:miter lim="800000"/>
        </a:ln>
      </a:spPr>
      <a:bodyPr wrap="none" lIns="91434" tIns="45718" rIns="91434" bIns="45718" anchor="ctr"/>
      <a:lstStyle>
        <a:defPPr marL="0" algn="ctr">
          <a:spcBef>
            <a:spcPts val="600"/>
          </a:spcBef>
          <a:spcAft>
            <a:spcPts val="600"/>
          </a:spcAft>
          <a:defRPr sz="3600" b="1" dirty="0" smtClean="0">
            <a:solidFill>
              <a:srgbClr val="FFFF00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blipFill dpi="0" rotWithShape="1">
          <a:blip xmlns:r="http://schemas.openxmlformats.org/officeDocument/2006/relationships" r:embed="rId1" cstate="print"/>
          <a:srcRect/>
          <a:stretch>
            <a:fillRect/>
          </a:stretch>
        </a:blipFill>
        <a:ln w="9525">
          <a:noFill/>
          <a:miter lim="800000"/>
        </a:ln>
      </a:spPr>
      <a:bodyPr wrap="none" lIns="91434" tIns="45718" rIns="91434" bIns="45718" anchor="ctr"/>
      <a:lstStyle>
        <a:defPPr marL="0" algn="ctr">
          <a:spcBef>
            <a:spcPts val="600"/>
          </a:spcBef>
          <a:spcAft>
            <a:spcPts val="600"/>
          </a:spcAft>
          <a:defRPr sz="3600" b="1" dirty="0" smtClean="0">
            <a:solidFill>
              <a:srgbClr val="FFFF00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WPS 演示</Application>
  <PresentationFormat>宽屏</PresentationFormat>
  <Paragraphs>88</Paragraphs>
  <Slides>11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11</vt:i4>
      </vt:variant>
    </vt:vector>
  </HeadingPairs>
  <TitlesOfParts>
    <vt:vector size="35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Calibri Light</vt:lpstr>
      <vt:lpstr>楷体</vt:lpstr>
      <vt:lpstr>黑体</vt:lpstr>
      <vt:lpstr>Calibri</vt:lpstr>
      <vt:lpstr>Arial Unicode MS</vt:lpstr>
      <vt:lpstr>等线 Light</vt:lpstr>
      <vt:lpstr>等线</vt:lpstr>
      <vt:lpstr>Calibri</vt:lpstr>
      <vt:lpstr>Times New Roman</vt:lpstr>
      <vt:lpstr>1_默认设计模板</vt:lpstr>
      <vt:lpstr>3_默认设计模板</vt:lpstr>
      <vt:lpstr>4_默认设计模板</vt:lpstr>
      <vt:lpstr>Office 主题​​</vt:lpstr>
      <vt:lpstr>Office 主题​​</vt:lpstr>
      <vt:lpstr>1_Office 主题</vt:lpstr>
      <vt:lpstr>Office 主题​​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试用期满干部信息一览表</dc:title>
  <dc:creator>xiaoshiguan</dc:creator>
  <cp:lastModifiedBy>进退两难</cp:lastModifiedBy>
  <cp:revision>3322</cp:revision>
  <cp:lastPrinted>2021-01-18T10:18:00Z</cp:lastPrinted>
  <dcterms:created xsi:type="dcterms:W3CDTF">2015-05-06T02:05:00Z</dcterms:created>
  <dcterms:modified xsi:type="dcterms:W3CDTF">2024-11-21T12:50:53Z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BB580E8F0E62425CA36195CAA1B9D0D5_13</vt:lpwstr>
  </property>
</Properties>
</file>